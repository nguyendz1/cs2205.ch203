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7" r:id="rId2"/>
    <p:sldId id="259" r:id="rId3"/>
    <p:sldId id="260" r:id="rId4"/>
    <p:sldId id="261" r:id="rId5"/>
    <p:sldId id="262" r:id="rId6"/>
    <p:sldId id="274" r:id="rId7"/>
    <p:sldId id="275" r:id="rId8"/>
    <p:sldId id="276" r:id="rId9"/>
    <p:sldId id="277" r:id="rId10"/>
    <p:sldId id="263" r:id="rId11"/>
    <p:sldId id="264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d8a3913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d8a3913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d8a3913e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0d8a3913e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fe14d3b4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fe14d3b4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d8a3913e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0d8a3913e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d8a3913e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d8a3913e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08C9A67-4B57-492E-65D4-EBFD1CCD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d8a3913ea_0_129:notes">
            <a:extLst>
              <a:ext uri="{FF2B5EF4-FFF2-40B4-BE49-F238E27FC236}">
                <a16:creationId xmlns:a16="http://schemas.microsoft.com/office/drawing/2014/main" id="{A9336101-8D5B-BAB8-2F03-6D414FFF0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d8a3913ea_0_129:notes">
            <a:extLst>
              <a:ext uri="{FF2B5EF4-FFF2-40B4-BE49-F238E27FC236}">
                <a16:creationId xmlns:a16="http://schemas.microsoft.com/office/drawing/2014/main" id="{F5D89159-D26F-0A11-9BB2-CB28E98E1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479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D3F1F49-D1EF-71B3-0157-44C46003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d8a3913ea_0_129:notes">
            <a:extLst>
              <a:ext uri="{FF2B5EF4-FFF2-40B4-BE49-F238E27FC236}">
                <a16:creationId xmlns:a16="http://schemas.microsoft.com/office/drawing/2014/main" id="{8EC33F29-2C61-D0C6-FF97-B6E18D2A6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d8a3913ea_0_129:notes">
            <a:extLst>
              <a:ext uri="{FF2B5EF4-FFF2-40B4-BE49-F238E27FC236}">
                <a16:creationId xmlns:a16="http://schemas.microsoft.com/office/drawing/2014/main" id="{7F255176-2849-1F9F-CC40-5CD8C5025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246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1EDF537-7D80-F78B-EBFB-9468052D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d8a3913ea_0_129:notes">
            <a:extLst>
              <a:ext uri="{FF2B5EF4-FFF2-40B4-BE49-F238E27FC236}">
                <a16:creationId xmlns:a16="http://schemas.microsoft.com/office/drawing/2014/main" id="{315E87B2-3750-C601-75CD-1B4B2B46F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d8a3913ea_0_129:notes">
            <a:extLst>
              <a:ext uri="{FF2B5EF4-FFF2-40B4-BE49-F238E27FC236}">
                <a16:creationId xmlns:a16="http://schemas.microsoft.com/office/drawing/2014/main" id="{B912E6B3-63CC-3754-7398-111809D77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09417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624A6C0-A978-DF76-0E76-BCE1EE94B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d8a3913ea_0_129:notes">
            <a:extLst>
              <a:ext uri="{FF2B5EF4-FFF2-40B4-BE49-F238E27FC236}">
                <a16:creationId xmlns:a16="http://schemas.microsoft.com/office/drawing/2014/main" id="{56C168BF-22C1-7052-3501-B2B2A2EE9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d8a3913ea_0_129:notes">
            <a:extLst>
              <a:ext uri="{FF2B5EF4-FFF2-40B4-BE49-F238E27FC236}">
                <a16:creationId xmlns:a16="http://schemas.microsoft.com/office/drawing/2014/main" id="{0DDF9D2B-94DB-39BC-DEFF-A9FBF6FC4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9670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d8a3913e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0d8a3913e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d8a3913e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d8a3913e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R01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R01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10800000" flipH="1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UIT.CS519.ResearchMethodology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459075" y="1606550"/>
            <a:ext cx="8225850" cy="65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b="1"/>
              <a:t>ĐỀ XUẤT KHUNG QUẢN TRỊ RỦI RO HỆ THỐNG THÔNG TIN CHO DOANH NGHIỆP VỪA VÀ NHỎ</a:t>
            </a:r>
            <a:endParaRPr sz="2800" b="1"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2172550" y="2571750"/>
            <a:ext cx="47989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Liêu Phúc Nguyên - 250104047</a:t>
            </a:r>
            <a:endParaRPr sz="2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6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Tóm tắt </a:t>
            </a: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/>
              <a:buChar char="●"/>
            </a:pPr>
            <a:r>
              <a:rPr lang="en"/>
              <a:t>Lớp: </a:t>
            </a:r>
            <a:r>
              <a:rPr lang="en-US"/>
              <a:t>CS2205.CH203 </a:t>
            </a:r>
            <a:endParaRPr lang="en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Github của nhóm: 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Link YouTube video: 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/>
              <a:t>Họ và tên: Liêu Phúc Nguyên - 250104047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3A344-E9D3-A5BF-33CC-47B4999D7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00" y="2404341"/>
            <a:ext cx="1696300" cy="23245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Giới thiệu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/>
              <a:t>Vấn đề: </a:t>
            </a:r>
            <a:r>
              <a:rPr lang="en-US" sz="1600"/>
              <a:t>Thiếu ngân sách, thiếu nhân lực CNTT, thiếu quy trình quản trị.</a:t>
            </a:r>
          </a:p>
          <a:p>
            <a:r>
              <a:rPr lang="en-US" sz="1600" b="1"/>
              <a:t>Khoảng trống nghiên cứu: </a:t>
            </a:r>
            <a:r>
              <a:rPr lang="en-US" sz="1600"/>
              <a:t>Tập trung quá nhiều vào security, chưa xem xét đầy đủ yếu tố tổ chức và nguồn lực, chưa có framework tối ưu cho SMEs.</a:t>
            </a:r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Mục tiêu</a:t>
            </a: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298450" y="1054775"/>
            <a:ext cx="8547100" cy="3160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/>
              <a:t>Mục tiêu 1: </a:t>
            </a:r>
            <a:r>
              <a:rPr lang="en-US" sz="2400"/>
              <a:t>Xây dựng framework quản trị rủi ro HTTT cho SMEs</a:t>
            </a:r>
          </a:p>
          <a:p>
            <a:endParaRPr lang="en-US" sz="2400"/>
          </a:p>
          <a:p>
            <a:r>
              <a:rPr lang="en-US" sz="2400" b="1"/>
              <a:t>Mục tiêu 2: </a:t>
            </a:r>
            <a:r>
              <a:rPr lang="en-US" sz="2400"/>
              <a:t>Thiết kế quy trình quản trị rủi ro hoàn chỉnh</a:t>
            </a:r>
          </a:p>
          <a:p>
            <a:endParaRPr lang="en-US" sz="2400"/>
          </a:p>
          <a:p>
            <a:r>
              <a:rPr lang="en-US" sz="2400" b="1"/>
              <a:t>Mục tiêu 3:</a:t>
            </a:r>
            <a:r>
              <a:rPr lang="en-US" sz="2400"/>
              <a:t>Đánh giá tính khả thi thông qua chuyên gia và doanh nghiệp</a:t>
            </a: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Nội dung và Phương pháp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471900" y="8332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None/>
            </a:pPr>
            <a:r>
              <a:rPr lang="en-US" b="1"/>
              <a:t>Khung quản trị rủi ro hệ thống thông tin được đề xuất</a:t>
            </a:r>
          </a:p>
          <a:p>
            <a:pPr marL="88900" indent="0">
              <a:buNone/>
            </a:pPr>
            <a:r>
              <a:rPr lang="en-US"/>
              <a:t>Quy trình này được thiết kế dựa trên các nguyên tắc quản trị rủi ro phổ biến trong các framework quản trị CNTT hiện nay.</a:t>
            </a:r>
          </a:p>
          <a:p>
            <a:pPr marL="88900" indent="0">
              <a:buNone/>
            </a:pPr>
            <a:endParaRPr lang="en-US" b="1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pic>
        <p:nvPicPr>
          <p:cNvPr id="2" name="image1.png">
            <a:extLst>
              <a:ext uri="{FF2B5EF4-FFF2-40B4-BE49-F238E27FC236}">
                <a16:creationId xmlns:a16="http://schemas.microsoft.com/office/drawing/2014/main" id="{6C88C0FB-38EE-CF0E-2500-F1C3ACB9A3C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165350" y="2292100"/>
            <a:ext cx="4813300" cy="24495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046D288-48B3-DB1F-6A4F-21E441FD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055F56CA-1F4E-96E3-263F-30055E97B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Nội dung và Phương pháp</a:t>
            </a:r>
            <a:endParaRPr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C24B77E6-AD2B-FED8-CB16-C489963E2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900" y="8332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None/>
            </a:pPr>
            <a:r>
              <a:rPr lang="en-US" b="1"/>
              <a:t>Tầng 1: Risk Identification</a:t>
            </a:r>
          </a:p>
          <a:p>
            <a:pPr marL="88900" indent="0">
              <a:buNone/>
            </a:pPr>
            <a:r>
              <a:rPr lang="en-US" b="1"/>
              <a:t>Nhận diện rủi ro</a:t>
            </a:r>
            <a:endParaRPr lang="en-US"/>
          </a:p>
          <a:p>
            <a:r>
              <a:rPr lang="en-US"/>
              <a:t>Nguồn dữ liệu: Literature Review, Expert Interview, SME Case Study</a:t>
            </a:r>
          </a:p>
          <a:p>
            <a:r>
              <a:rPr lang="en-US"/>
              <a:t>Output: Risk List</a:t>
            </a:r>
          </a:p>
          <a:p>
            <a:r>
              <a:rPr lang="en-US"/>
              <a:t>Ví dụ: Data Loss, Human Error, Budget Constraint</a:t>
            </a: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6840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2420788A-2572-F7E5-F841-2529AA5A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2B5D51C5-050A-7022-8479-A1A9FB8338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Nội dung và Phương pháp</a:t>
            </a:r>
            <a:endParaRPr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0C5DCA7B-CBA2-F1FA-C5C5-5E81B4DA6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0950" y="81415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None/>
            </a:pPr>
            <a:r>
              <a:rPr lang="en-US" b="1"/>
              <a:t>Tầng 2: Risk Classification</a:t>
            </a:r>
          </a:p>
          <a:p>
            <a:pPr marL="88900" indent="0">
              <a:buNone/>
            </a:pPr>
            <a:r>
              <a:rPr lang="en-US" b="1"/>
              <a:t>5 nhóm rủi ro:</a:t>
            </a:r>
          </a:p>
          <a:p>
            <a:pPr lvl="1"/>
            <a:r>
              <a:rPr lang="en-US"/>
              <a:t>👤 Human</a:t>
            </a:r>
          </a:p>
          <a:p>
            <a:pPr lvl="1"/>
            <a:r>
              <a:rPr lang="en-US"/>
              <a:t>💻 System</a:t>
            </a:r>
          </a:p>
          <a:p>
            <a:pPr lvl="1"/>
            <a:r>
              <a:rPr lang="en-US"/>
              <a:t>⚙ Process</a:t>
            </a:r>
          </a:p>
          <a:p>
            <a:pPr lvl="1"/>
            <a:r>
              <a:rPr lang="en-US"/>
              <a:t>🏢 Organization</a:t>
            </a:r>
          </a:p>
          <a:p>
            <a:pPr lvl="1"/>
            <a:r>
              <a:rPr lang="en-US"/>
              <a:t>💰 Resource</a:t>
            </a: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4255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7F02F86-E7F3-999F-2028-2523E897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3F2C8812-A82C-2038-08E1-1812E15A70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Nội dung và Phương pháp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Google Shape;107;p19">
                <a:extLst>
                  <a:ext uri="{FF2B5EF4-FFF2-40B4-BE49-F238E27FC236}">
                    <a16:creationId xmlns:a16="http://schemas.microsoft.com/office/drawing/2014/main" id="{EBB2904A-ECD2-0581-6B9B-BC81D0B8374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60950" y="814150"/>
                <a:ext cx="8222100" cy="3908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88900" indent="0">
                  <a:buNone/>
                </a:pPr>
                <a:r>
                  <a:rPr lang="en-US" b="1"/>
                  <a:t>Tầng 2: Risk Assessment</a:t>
                </a:r>
              </a:p>
              <a:p>
                <a:r>
                  <a:rPr lang="en-US" b="1"/>
                  <a:t>Đánh giá dựa trên:</a:t>
                </a:r>
              </a:p>
              <a:p>
                <a:pPr lvl="1"/>
                <a:r>
                  <a:rPr lang="en-US"/>
                  <a:t>Likelihood </a:t>
                </a:r>
              </a:p>
              <a:p>
                <a:pPr lvl="1"/>
                <a:r>
                  <a:rPr lang="en-US"/>
                  <a:t>Impact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𝑅𝑖𝑠𝑘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/>
                      <m:t>𝑆𝑐𝑜𝑟𝑒</m:t>
                    </m:r>
                    <m:r>
                      <a:rPr lang="en-US"/>
                      <m:t>=</m:t>
                    </m:r>
                    <m:r>
                      <a:rPr lang="en-US" i="1"/>
                      <m:t>𝐿𝑖𝑘𝑒𝑙𝑖h𝑜𝑜𝑑</m:t>
                    </m:r>
                    <m:r>
                      <a:rPr lang="en-US"/>
                      <m:t>×</m:t>
                    </m:r>
                    <m:r>
                      <a:rPr lang="en-US" i="1"/>
                      <m:t>𝐼𝑚𝑝𝑎𝑐𝑡</m:t>
                    </m:r>
                  </m:oMath>
                </a14:m>
                <a:endParaRPr lang="en-US"/>
              </a:p>
              <a:p>
                <a:pPr marL="45720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endParaRPr/>
              </a:p>
              <a:p>
                <a:pPr marL="45720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endParaRPr/>
              </a:p>
              <a:p>
                <a:pPr marL="457200" lvl="0" indent="0" algn="l" rtl="0">
                  <a:spcBef>
                    <a:spcPts val="1600"/>
                  </a:spcBef>
                  <a:spcAft>
                    <a:spcPts val="0"/>
                  </a:spcAft>
                  <a:buNone/>
                </a:pPr>
                <a:endParaRPr/>
              </a:p>
              <a:p>
                <a:pPr marL="914400" lvl="0" indent="0" algn="l" rtl="0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endParaRPr sz="1800"/>
              </a:p>
            </p:txBody>
          </p:sp>
        </mc:Choice>
        <mc:Fallback>
          <p:sp>
            <p:nvSpPr>
              <p:cNvPr id="107" name="Google Shape;107;p19">
                <a:extLst>
                  <a:ext uri="{FF2B5EF4-FFF2-40B4-BE49-F238E27FC236}">
                    <a16:creationId xmlns:a16="http://schemas.microsoft.com/office/drawing/2014/main" id="{EBB2904A-ECD2-0581-6B9B-BC81D0B8374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0950" y="814150"/>
                <a:ext cx="8222100" cy="3908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F2158C-0B69-D81D-0256-0DCB6A948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920361"/>
              </p:ext>
            </p:extLst>
          </p:nvPr>
        </p:nvGraphicFramePr>
        <p:xfrm>
          <a:off x="5544398" y="1648195"/>
          <a:ext cx="3270252" cy="16773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5126">
                  <a:extLst>
                    <a:ext uri="{9D8B030D-6E8A-4147-A177-3AD203B41FA5}">
                      <a16:colId xmlns:a16="http://schemas.microsoft.com/office/drawing/2014/main" val="3848853901"/>
                    </a:ext>
                  </a:extLst>
                </a:gridCol>
                <a:gridCol w="1635126">
                  <a:extLst>
                    <a:ext uri="{9D8B030D-6E8A-4147-A177-3AD203B41FA5}">
                      <a16:colId xmlns:a16="http://schemas.microsoft.com/office/drawing/2014/main" val="3776923747"/>
                    </a:ext>
                  </a:extLst>
                </a:gridCol>
              </a:tblGrid>
              <a:tr h="275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Risk Score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Risk Level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48799558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1-5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Low 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80010785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6-10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Moderate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51357993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11-15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High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7559051"/>
                  </a:ext>
                </a:extLst>
              </a:tr>
              <a:tr h="275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16-25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Critical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936155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88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BA58B83-C638-D56E-52FD-7C7BB24B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>
            <a:extLst>
              <a:ext uri="{FF2B5EF4-FFF2-40B4-BE49-F238E27FC236}">
                <a16:creationId xmlns:a16="http://schemas.microsoft.com/office/drawing/2014/main" id="{F4530EA2-3B69-3EDB-E5E4-BCE082E8C7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Nội dung và Phương pháp</a:t>
            </a:r>
            <a:endParaRPr/>
          </a:p>
        </p:txBody>
      </p:sp>
      <p:sp>
        <p:nvSpPr>
          <p:cNvPr id="107" name="Google Shape;107;p19">
            <a:extLst>
              <a:ext uri="{FF2B5EF4-FFF2-40B4-BE49-F238E27FC236}">
                <a16:creationId xmlns:a16="http://schemas.microsoft.com/office/drawing/2014/main" id="{9F25F661-CDE9-4654-D606-F0B47FC88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0950" y="814150"/>
            <a:ext cx="3298250" cy="33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None/>
            </a:pPr>
            <a:r>
              <a:rPr lang="en-US" b="1"/>
              <a:t>Tầng 4 &amp; 5</a:t>
            </a:r>
          </a:p>
          <a:p>
            <a:r>
              <a:rPr lang="en-US" b="1"/>
              <a:t>Risk Response</a:t>
            </a:r>
          </a:p>
          <a:p>
            <a:pPr lvl="1"/>
            <a:r>
              <a:rPr lang="en-US"/>
              <a:t>Mitigate </a:t>
            </a:r>
          </a:p>
          <a:p>
            <a:pPr lvl="1"/>
            <a:r>
              <a:rPr lang="en-US"/>
              <a:t>Avoid </a:t>
            </a:r>
          </a:p>
          <a:p>
            <a:pPr lvl="1"/>
            <a:r>
              <a:rPr lang="en-US"/>
              <a:t>Transfer </a:t>
            </a:r>
          </a:p>
          <a:p>
            <a:pPr lvl="1"/>
            <a:r>
              <a:rPr lang="en-US"/>
              <a:t>Accept </a:t>
            </a: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sp>
        <p:nvSpPr>
          <p:cNvPr id="5" name="Google Shape;107;p19">
            <a:extLst>
              <a:ext uri="{FF2B5EF4-FFF2-40B4-BE49-F238E27FC236}">
                <a16:creationId xmlns:a16="http://schemas.microsoft.com/office/drawing/2014/main" id="{ABF7D613-DA16-202D-ABC1-3A23C2467745}"/>
              </a:ext>
            </a:extLst>
          </p:cNvPr>
          <p:cNvSpPr txBox="1">
            <a:spLocks/>
          </p:cNvSpPr>
          <p:nvPr/>
        </p:nvSpPr>
        <p:spPr>
          <a:xfrm>
            <a:off x="4572000" y="1235100"/>
            <a:ext cx="4356100" cy="29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Roboto"/>
              <a:buChar char="●"/>
              <a:defRPr sz="2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  <a:defRPr sz="2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  <a:defRPr sz="1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b="1"/>
              <a:t>Risk Monitoring</a:t>
            </a:r>
          </a:p>
          <a:p>
            <a:pPr lvl="1"/>
            <a:r>
              <a:rPr lang="en-US"/>
              <a:t>KPI Monitoring </a:t>
            </a:r>
          </a:p>
          <a:p>
            <a:pPr lvl="1"/>
            <a:r>
              <a:rPr lang="en-US"/>
              <a:t>Periodic Review </a:t>
            </a:r>
          </a:p>
          <a:p>
            <a:pPr lvl="1"/>
            <a:r>
              <a:rPr lang="en-US"/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53035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Kết quả dự kiến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400485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Evaluation</a:t>
            </a:r>
          </a:p>
          <a:p>
            <a:pPr lvl="1"/>
            <a:r>
              <a:rPr lang="en-US"/>
              <a:t>Expert Evaluation </a:t>
            </a:r>
          </a:p>
          <a:p>
            <a:pPr lvl="1"/>
            <a:r>
              <a:rPr lang="en-US"/>
              <a:t>SME Pilot </a:t>
            </a:r>
          </a:p>
          <a:p>
            <a:pPr lvl="1"/>
            <a:r>
              <a:rPr lang="en-US"/>
              <a:t>Questionnaire Survey </a:t>
            </a:r>
          </a:p>
          <a:p>
            <a:r>
              <a:rPr lang="en-US" b="1"/>
              <a:t>Công cụ</a:t>
            </a:r>
          </a:p>
          <a:p>
            <a:pPr lvl="1"/>
            <a:r>
              <a:rPr lang="en-US"/>
              <a:t>Cronbach's Alpha </a:t>
            </a:r>
          </a:p>
          <a:p>
            <a:pPr lvl="1"/>
            <a:r>
              <a:rPr lang="en-US"/>
              <a:t>Descriptive Statistics</a:t>
            </a: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7C57C2-925A-A8F8-2F3F-919B6E2C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459252"/>
              </p:ext>
            </p:extLst>
          </p:nvPr>
        </p:nvGraphicFramePr>
        <p:xfrm>
          <a:off x="4091623" y="2143096"/>
          <a:ext cx="4754880" cy="12632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819859225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957405248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794947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Tiêu chí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Trước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Sau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240555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Nhận diện rủi 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Thủ công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Có cấu trúc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338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Đánh giá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Cảm tính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Định lượng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64226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Giám sát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Không liên tục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200"/>
                        <a:t>Liên tục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209129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Tài liệu tham khảo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/>
              <a:t>[1] Mitende, N. N., &amp; Muhoho, K. J. (2025). Information Security Risk Management in Small Business Enterprises.</a:t>
            </a:r>
          </a:p>
          <a:p>
            <a:r>
              <a:rPr lang="en-US" sz="1600"/>
              <a:t>[2] Al-Dosari, K., &amp; Fetais, N. (2023). Risk-Management Framework and Information-Security Systems for Small and Medium Enterprises (SMEs): A Meta-Analysis Approach.</a:t>
            </a:r>
          </a:p>
          <a:p>
            <a:r>
              <a:rPr lang="en-US" sz="1600"/>
              <a:t>[3] Rusu, D., &amp; Mantulescu, M. (2025). Development of an Application-Based Framework for Information Security Management in SMEs.</a:t>
            </a:r>
          </a:p>
          <a:p>
            <a:r>
              <a:rPr lang="en-US" sz="1600"/>
              <a:t>[4] Irfandhi, K. (2016). Risk Management in Information Technology Project: An Empirical Study.</a:t>
            </a:r>
          </a:p>
          <a:p>
            <a:r>
              <a:rPr lang="en-US" sz="1600"/>
              <a:t>[5] Petrov, P., Stoev, S., Radev, M., Sergeev, A., &amp; Dimitrov, G. (2021). Risk Management Process in Information Systems Development.</a:t>
            </a:r>
          </a:p>
          <a:p>
            <a:r>
              <a:rPr lang="en-US" sz="1600"/>
              <a:t>[6] Huang, T., Yokota, A., &amp; Suzuki, K. (2025). An Empirical Study of Risk Management Approaches in Information Systems Development Projects from the Vendor's Perspective: Evidence from Japan.</a:t>
            </a:r>
          </a:p>
          <a:p>
            <a:endParaRPr lang="en-US"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60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On-screen Show (16:9)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Roboto</vt:lpstr>
      <vt:lpstr>Arial</vt:lpstr>
      <vt:lpstr>Material - R01</vt:lpstr>
      <vt:lpstr>ĐỀ XUẤT KHUNG QUẢN TRỊ RỦI RO HỆ THỐNG THÔNG TIN CHO DOANH NGHIỆP VỪA VÀ NHỎ</vt:lpstr>
      <vt:lpstr>Tóm tắt </vt:lpstr>
      <vt:lpstr>Giới thiệu</vt:lpstr>
      <vt:lpstr>Mục tiêu</vt:lpstr>
      <vt:lpstr>Nội dung và Phương pháp</vt:lpstr>
      <vt:lpstr>Nội dung và Phương pháp</vt:lpstr>
      <vt:lpstr>Nội dung và Phương pháp</vt:lpstr>
      <vt:lpstr>Nội dung và Phương pháp</vt:lpstr>
      <vt:lpstr>Nội dung và Phương pháp</vt:lpstr>
      <vt:lpstr>Kết quả dự kiến</vt:lpstr>
      <vt:lpstr>Tài liệu tham khảo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Liêu Phúc Nguyên</cp:lastModifiedBy>
  <cp:revision>1</cp:revision>
  <dcterms:modified xsi:type="dcterms:W3CDTF">2026-06-12T13:35:02Z</dcterms:modified>
</cp:coreProperties>
</file>